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9" r:id="rId2"/>
    <p:sldId id="256" r:id="rId3"/>
    <p:sldId id="257" r:id="rId4"/>
    <p:sldId id="258" r:id="rId5"/>
    <p:sldId id="259" r:id="rId6"/>
    <p:sldId id="273" r:id="rId7"/>
    <p:sldId id="270" r:id="rId8"/>
    <p:sldId id="271" r:id="rId9"/>
    <p:sldId id="272" r:id="rId10"/>
    <p:sldId id="274" r:id="rId11"/>
    <p:sldId id="260" r:id="rId12"/>
    <p:sldId id="261" r:id="rId13"/>
    <p:sldId id="262" r:id="rId14"/>
    <p:sldId id="263" r:id="rId15"/>
    <p:sldId id="275" r:id="rId27"/>
    <p:sldId id="264" r:id="rId16"/>
    <p:sldId id="276" r:id="rId26"/>
    <p:sldId id="265" r:id="rId17"/>
    <p:sldId id="277" r:id="rId28"/>
    <p:sldId id="266" r:id="rId18"/>
    <p:sldId id="268" r:id="rId19"/>
    <p:sldId id="26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Spearman rho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F8E-CA49-832A-73DD8267B396}"/>
              </c:ext>
            </c:extLst>
          </c:dPt>
          <c:dPt>
            <c:idx val="1"/>
            <c:invertIfNegative val="0"/>
            <c:bubble3D val="0"/>
            <c:spPr>
              <a:solidFill>
                <a:srgbClr val="1A7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8E-CA49-832A-73DD8267B396}"/>
              </c:ext>
            </c:extLst>
          </c:dPt>
          <c:dPt>
            <c:idx val="2"/>
            <c:invertIfNegative val="0"/>
            <c:bubble3D val="0"/>
            <c:spPr>
              <a:solidFill>
                <a:srgbClr val="1A7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8E-CA49-832A-73DD8267B396}"/>
              </c:ext>
            </c:extLst>
          </c:dPt>
          <c:dPt>
            <c:idx val="3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8E-CA49-832A-73DD8267B396}"/>
              </c:ext>
            </c:extLst>
          </c:dPt>
          <c:dPt>
            <c:idx val="4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F8E-CA49-832A-73DD8267B396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F8E-CA49-832A-73DD8267B39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[feat_1]</c:v>
                </c:pt>
                <c:pt idx="1">
                  <c:v>[feat_2]</c:v>
                </c:pt>
                <c:pt idx="2">
                  <c:v>[feat_3]</c:v>
                </c:pt>
                <c:pt idx="3">
                  <c:v>[feat_4]</c:v>
                </c:pt>
                <c:pt idx="4">
                  <c:v>[feat_5]</c:v>
                </c:pt>
                <c:pt idx="5">
                  <c:v>[feat_6]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</c:v>
                </c:pt>
                <c:pt idx="1">
                  <c:v>0.72</c:v>
                </c:pt>
                <c:pt idx="2">
                  <c:v>0.71</c:v>
                </c:pt>
                <c:pt idx="3">
                  <c:v>0.7</c:v>
                </c:pt>
                <c:pt idx="4">
                  <c:v>0.53</c:v>
                </c:pt>
                <c:pt idx="5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F8E-CA49-832A-73DD8267B3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Gain %</c:v>
                </c:pt>
              </c:strCache>
            </c:strRef>
          </c:tx>
          <c:spPr>
            <a:solidFill>
              <a:srgbClr val="1A73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2F1-BB49-A75C-006159E7595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2F1-BB49-A75C-006159E75954}"/>
              </c:ext>
            </c:extLst>
          </c:dPt>
          <c:dPt>
            <c:idx val="2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2F1-BB49-A75C-006159E75954}"/>
              </c:ext>
            </c:extLst>
          </c:dPt>
          <c:dPt>
            <c:idx val="3"/>
            <c:invertIfNegative val="0"/>
            <c:bubble3D val="0"/>
            <c:spPr>
              <a:solidFill>
                <a:srgbClr val="4A90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2F1-BB49-A75C-006159E75954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2F1-BB49-A75C-006159E75954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2F1-BB49-A75C-006159E7595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[feat_1]</c:v>
                </c:pt>
                <c:pt idx="1">
                  <c:v>[feat_2]</c:v>
                </c:pt>
                <c:pt idx="2">
                  <c:v>[feat_3]</c:v>
                </c:pt>
                <c:pt idx="3">
                  <c:v>[feat_4]</c:v>
                </c:pt>
                <c:pt idx="4">
                  <c:v>[feat_5]</c:v>
                </c:pt>
                <c:pt idx="5">
                  <c:v>[feat_6]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22</c:v>
                </c:pt>
                <c:pt idx="2">
                  <c:v>15</c:v>
                </c:pt>
                <c:pt idx="3">
                  <c:v>12</c:v>
                </c:pt>
                <c:pt idx="4">
                  <c:v>9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2F1-BB49-A75C-006159E759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62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548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</a:t>
            </a:r>
          </a:p>
          <a:p>
            <a:endParaRPr/>
          </a:p>
          <a:p>
            <a:r>
              <a:t>Open strong: '[Dataset Name] — here's what I found.'</a:t>
            </a:r>
          </a:p>
          <a:p>
            <a:r>
              <a:t>Don't read the slide. Just introduce yourself and the dataset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</a:t>
            </a:r>
          </a:p>
          <a:p>
            <a:endParaRPr/>
          </a:p>
          <a:p>
            <a:r>
              <a:t>Brief walkthrough: 'I'll take you through problem framing, key EDA findings, modelling results, and robustness checks.'</a:t>
            </a:r>
          </a:p>
          <a:p>
            <a:r>
              <a:t>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CLEANING — Speaker notes:</a:t>
            </a:r>
          </a:p>
          <a:p>
            <a:endParaRPr/>
          </a:p>
          <a:p>
            <a:r>
              <a:t>Top row — three plots:</a:t>
            </a:r>
          </a:p>
          <a:p>
            <a:r>
              <a:t>1. Boxplot grid: "Here you can see the spread of all numeric features. [col] has obvious outliers."</a:t>
            </a:r>
          </a:p>
          <a:p>
            <a:r>
              <a:t>2. Histogram grid: "Skewness annotated on each — [col_1] is right-skewed (skew=3.8), applied log1p."</a:t>
            </a:r>
          </a:p>
          <a:p>
            <a:r>
              <a:t>3. Missingness: "Only [col] had missing values at [X]% — imputed with median."</a:t>
            </a:r>
          </a:p>
          <a:p>
            <a:endParaRPr/>
          </a:p>
          <a:p>
            <a:r>
              <a:t>Cleaning table — go row by row briefly:</a:t>
            </a:r>
          </a:p>
          <a:p>
            <a:r>
              <a:t>- "Zero duplicates — clean dataset"</a:t>
            </a:r>
          </a:p>
          <a:p>
            <a:r>
              <a:t>- "Two columns had &lt; 5% missing — safe median imputation"</a:t>
            </a:r>
          </a:p>
          <a:p>
            <a:r>
              <a:t>- "Outliers flagged with 3×IQR, not removed — extreme glucose values may be real"</a:t>
            </a:r>
          </a:p>
          <a:p>
            <a:r>
              <a:t>- "log1p applied to skewed features for Ridge only — trees don't need it"</a:t>
            </a:r>
          </a:p>
          <a:p>
            <a:r>
              <a:t>- "alive column was constant (all 1.0) — dropped as zero variance"</a:t>
            </a:r>
          </a:p>
          <a:p>
            <a:endParaRPr/>
          </a:p>
          <a:p>
            <a:r>
              <a:t>Key phrase:</a:t>
            </a:r>
          </a:p>
          <a:p>
            <a:r>
              <a:t>"Every cleaning decision has a reason. I didn't just drop outliers — I thought about whether they were measurement errors or real extreme cases."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LEAKAGE SLIDE — Speaker notes:</a:t>
            </a:r>
          </a:p>
          <a:p>
            <a:endParaRPr/>
          </a:p>
          <a:p>
            <a:r>
              <a:t>1. Open by saying: 'Before any modelling, I ran a correlation screen on all features.'</a:t>
            </a:r>
          </a:p>
          <a:p>
            <a:r>
              <a:t>2. Point to table: 'These columns had Spearman ρ &gt; 0.8 with target — I checked each one manually.'</a:t>
            </a:r>
          </a:p>
          <a:p>
            <a:r>
              <a:t>3. Explain WHY each is leakage in plain English.</a:t>
            </a:r>
          </a:p>
          <a:p>
            <a:r>
              <a:t>4. Show the honest result: 'After exclusion, R² drops from [X] to [X]. This is the real number.'</a:t>
            </a:r>
          </a:p>
          <a:p>
            <a:endParaRPr/>
          </a:p>
          <a:p>
            <a:r>
              <a:t>Key message: finding and removing leakage yourself = huge plus. Interviewer finding it = huge minus.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 ANALYSIS — Speaker notes:</a:t>
            </a:r>
          </a:p>
          <a:p>
            <a:endParaRPr/>
          </a:p>
          <a:p>
            <a:r>
              <a:t>1. Always start EDA with target. Say: 'First thing I looked at is the target distribution.'</a:t>
            </a:r>
          </a:p>
          <a:p>
            <a:r>
              <a:t>2. Call out skewness: what does it mean for the task?</a:t>
            </a:r>
          </a:p>
          <a:p>
            <a:r>
              <a:t>3. Call out unique values: is this regression or ordinal classification?</a:t>
            </a:r>
          </a:p>
          <a:p>
            <a:r>
              <a:t>4. Connect to metric choice: 'Because of [skew/distribution], I chose [RMSE/MAE/Spearman] as primary metric.'</a:t>
            </a:r>
          </a:p>
          <a:p>
            <a:endParaRPr/>
          </a:p>
          <a:p>
            <a:r>
              <a:t>Typical patterns:</a:t>
            </a:r>
          </a:p>
          <a:p>
            <a:r>
              <a:t>- stage ∈ {0,1,2,3} → ordinal, Spearman ρ is key metric</a:t>
            </a:r>
          </a:p>
          <a:p>
            <a:r>
              <a:t>- continuous rating → regression, RMSE primary</a:t>
            </a:r>
          </a:p>
          <a:p>
            <a:r>
              <a:t>- left-skew (ceiling) → model will struggle at top end, mention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 FRAMING</a:t>
            </a:r>
          </a:p>
          <a:p>
            <a:endParaRPr/>
          </a:p>
          <a:p>
            <a:r>
              <a:t>This is where you signal quant thinking. Say:</a:t>
            </a:r>
          </a:p>
          <a:p>
            <a:r>
              <a:t>'Before touching the data, I defined three research questions.'</a:t>
            </a:r>
          </a:p>
          <a:p>
            <a:r>
              <a:t>Point to each question and explain why it matters for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TARGET DISTRIBUTION — Speaker notes:</a:t>
            </a:r>
          </a:p>
          <a:p>
            <a:endParaRPr/>
          </a:p>
          <a:p>
            <a:r>
              <a:t>Walk through left to right:</a:t>
            </a:r>
          </a:p>
          <a:p>
            <a:r>
              <a:t>1. Histogram: "The target [TARGET] shows [shape]. Mean=[X], Median=[X] — [gap explanation]."</a:t>
            </a:r>
          </a:p>
          <a:p>
            <a:r>
              <a:t>2. Boxplot: "Boxplot confirms [outliers/no outliers]. IQR = [X]."</a:t>
            </a:r>
          </a:p>
          <a:p>
            <a:r>
              <a:t>3. Countplot (if ordinal): "4 discrete classes — class imbalance: stage 0 dominates at [X]%."</a:t>
            </a:r>
          </a:p>
          <a:p>
            <a:r>
              <a:t>4. Stats cards: call out skewness and kurtosis explicitly.</a:t>
            </a:r>
          </a:p>
          <a:p>
            <a:r>
              <a:t>5. Task type: "Based on the distribution, I treat this as [regression/ordinal classification] because [reason]."</a:t>
            </a:r>
          </a:p>
          <a:p>
            <a:endParaRPr/>
          </a:p>
          <a:p>
            <a:r>
              <a:t>Key decision to make explicit:</a:t>
            </a:r>
          </a:p>
          <a:p>
            <a:r>
              <a:t>- Skew &gt; 1 → "I applied log1p transform for Ridge, kept raw for LightGBM"</a:t>
            </a:r>
          </a:p>
          <a:p>
            <a:r>
              <a:t>- Ordinal → "Spearman ρ is the primary metric — rank ordering matters more than exact values"</a:t>
            </a:r>
          </a:p>
          <a:p>
            <a:r>
              <a:t>- Class imbalance → "I used stratified split and report macro metrics"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 OVERVIEW</a:t>
            </a:r>
          </a:p>
          <a:p>
            <a:endParaRPr/>
          </a:p>
          <a:p>
            <a:r>
              <a:t>One sentence first impression: '[Dataset] is clean / has [X]% missing / has [N] features after leakage removal.'</a:t>
            </a:r>
          </a:p>
          <a:p>
            <a:r>
              <a:t>Don't read the numbers — summarize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 PREDICTORS</a:t>
            </a:r>
          </a:p>
          <a:p>
            <a:endParaRPr/>
          </a:p>
          <a:p>
            <a:r>
              <a:t>Point to bar chart: 'Spearman ρ tells us rank correlation — more robust than Pearson for ordinal data.'</a:t>
            </a:r>
          </a:p>
          <a:p>
            <a:r>
              <a:t>Call out divergence for the top feature: 'Notice [feat_1] shows Spearman=0.83 but Pearson=0.67 — divergence of 0.16 means non-linear signal. This drove my model choice.'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HYPOTHESIS TEST</a:t>
            </a:r>
          </a:p>
          <a:p>
            <a:endParaRPr/>
          </a:p>
          <a:p>
            <a:r>
              <a:t>Full narrative:</a:t>
            </a:r>
          </a:p>
          <a:p>
            <a:r>
              <a:t>1. 'I observed [X]'</a:t>
            </a:r>
          </a:p>
          <a:p>
            <a:r>
              <a:t>2. 'My H0 is [Y], H1 is [Z]'</a:t>
            </a:r>
          </a:p>
          <a:p>
            <a:r>
              <a:t>3. 'I checked normality first — Shapiro p=[X] → [normal/not normal]'</a:t>
            </a:r>
          </a:p>
          <a:p>
            <a:r>
              <a:t>4. 'Therefore I used [Mann-Whitney/t-test]'</a:t>
            </a:r>
          </a:p>
          <a:p>
            <a:r>
              <a:t>5. 'Result: p=[X] — [reject/fail to reject] H0'</a:t>
            </a:r>
          </a:p>
          <a:p>
            <a:r>
              <a:t>6. 'Effect size: Cohen's d=[X] → [small/medium/large]'</a:t>
            </a:r>
          </a:p>
          <a:p>
            <a:endParaRPr/>
          </a:p>
          <a:p>
            <a:r>
              <a:t>Never skip effect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MODELLING STRATEGY</a:t>
            </a:r>
          </a:p>
          <a:p>
            <a:endParaRPr/>
          </a:p>
          <a:p>
            <a:r>
              <a:t>Explain each model in one sentence:</a:t>
            </a:r>
          </a:p>
          <a:p>
            <a:r>
              <a:t>- Baseline: 'sets the floor'</a:t>
            </a:r>
          </a:p>
          <a:p>
            <a:r>
              <a:t>- Ridge: 'linear, handles multicollinearity'</a:t>
            </a:r>
          </a:p>
          <a:p>
            <a:r>
              <a:t>- LightGBM: 'captures non-linearity, leaf-wise'</a:t>
            </a:r>
          </a:p>
          <a:p>
            <a:r>
              <a:t>- XGBoost: 'cross-check, more conservative'</a:t>
            </a:r>
          </a:p>
          <a:p>
            <a:endParaRPr/>
          </a:p>
          <a:p>
            <a:r>
              <a:t>Then say: 'My model choice was informed by the divergence analysis in EDA.'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RESULTS TABLE</a:t>
            </a:r>
          </a:p>
          <a:p>
            <a:endParaRPr/>
          </a:p>
          <a:p>
            <a:r>
              <a:t>Point to winner row: 'LightGBM wins — CV RMSE=[X]±[X], test RMSE=[X], Spearman ρ=[X].'</a:t>
            </a:r>
          </a:p>
          <a:p>
            <a:r>
              <a:t>Explain why it won in ONE sentence.</a:t>
            </a:r>
          </a:p>
          <a:p>
            <a:r>
              <a:t>Mention CV stability: 'CV std/mean=[X] — result is stable, not a lucky split.'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 IMPORTANCE</a:t>
            </a:r>
          </a:p>
          <a:p>
            <a:endParaRPr/>
          </a:p>
          <a:p>
            <a:r>
              <a:t>Key points:</a:t>
            </a:r>
          </a:p>
          <a:p>
            <a:r>
              <a:t>1. 'I use gain importance, not split count — gain reflects actual loss reduction'</a:t>
            </a:r>
          </a:p>
          <a:p>
            <a:r>
              <a:t>2. '[feat_1] accounts for [X]% of total gain — consistent with [domain knowledge]'</a:t>
            </a:r>
          </a:p>
          <a:p>
            <a:r>
              <a:t>3. 'No single feature dominates &gt; 60% — no leakage concern'</a:t>
            </a:r>
          </a:p>
          <a:p>
            <a:endParaRPr/>
          </a:p>
          <a:p>
            <a:r>
              <a:t>If one feature dominates: 'I checked this — it's [explanation], not leakage.'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ROBUSTNESS CHECKS</a:t>
            </a:r>
          </a:p>
          <a:p>
            <a:endParaRPr/>
          </a:p>
          <a:p>
            <a:r>
              <a:t>This is where you separate yourself from other candidates.</a:t>
            </a:r>
          </a:p>
          <a:p>
            <a:endParaRPr/>
          </a:p>
          <a:p>
            <a:r>
              <a:t>For each check, say:</a:t>
            </a:r>
          </a:p>
          <a:p>
            <a:r>
              <a:t>1. Subperiod: 'CV=[X] across 4 quarters — signal is stable'</a:t>
            </a:r>
          </a:p>
          <a:p>
            <a:r>
              <a:t>2. Shuffled target: 'Z-score=[X], p&lt;0.001 — signal is not random'</a:t>
            </a:r>
          </a:p>
          <a:p>
            <a:r>
              <a:t>3. Ablation: 'No single feature drives &gt; [X]% of quality — model is robust'</a:t>
            </a:r>
          </a:p>
          <a:p>
            <a:r>
              <a:t>4. Sensitivity: 'Metric stable at [X]-[X] across reasonable param range'</a:t>
            </a:r>
          </a:p>
          <a:p>
            <a:endParaRPr/>
          </a:p>
          <a:p>
            <a:r>
              <a:t>Key phrase: 'A bad result I found myself is a plus — it shows I know where the model has limits.'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90D9"/>
                </a:solidFill>
              </a:rPr>
              <a:t>📋  HOW TO USE THIS TEMPLATE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Complete every [placeholder] below before your interview. Takes ~20 minutes.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30352" y="10149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1  ·  Cover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[DATASET NAME] · [Your Name]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30352" y="1609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3  ·  Problem Framing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[3 research questions] · [TARGET] · [metric]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65760" y="220370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30352" y="2203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4  ·  Data Overview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[N rows] · [N features] · [missing %] · [target range]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65760" y="279806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30352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5  ·  Leakage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[leaked columns] · [why excluded]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30352" y="3392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6  ·  Target Analysis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[skew] · [kurt] · [unique values] · [task type]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30352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7  ·  Top Predictors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[feature names] · [ρ values] · [divergence]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63440" y="96012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4663440" y="101498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828032" y="10149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8  ·  Hypothesis Test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28032" y="1234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[H0/H1] · [test name] · [p-value] · [effect size]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155448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4663440" y="160934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4828032" y="16093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9  ·  Corr Heatmap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28032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[top correlated pairs] · [multicollinearity note]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214884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Shape 35"/>
          <p:cNvSpPr/>
          <p:nvPr/>
        </p:nvSpPr>
        <p:spPr>
          <a:xfrm>
            <a:off x="4663440" y="220370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4828032" y="22037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10  ·  Modelling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28032" y="2423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[winner model] · [why]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274320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1" name="Shape 39"/>
          <p:cNvSpPr/>
          <p:nvPr/>
        </p:nvSpPr>
        <p:spPr>
          <a:xfrm>
            <a:off x="4663440" y="279806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4828032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11  ·  Results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28032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[CV RMSE] · [test RMSE] · [Spearman ρ] per model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333756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5" name="Shape 43"/>
          <p:cNvSpPr/>
          <p:nvPr/>
        </p:nvSpPr>
        <p:spPr>
          <a:xfrm>
            <a:off x="4663440" y="339242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4828032" y="33924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12  ·  Feature Importance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28032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[top 3 features] · [% gain] · [leakage check]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3931920"/>
            <a:ext cx="4023360" cy="53035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9" name="Shape 47"/>
          <p:cNvSpPr/>
          <p:nvPr/>
        </p:nvSpPr>
        <p:spPr>
          <a:xfrm>
            <a:off x="4663440" y="3986784"/>
            <a:ext cx="36576" cy="42062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4828032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Slide 13  ·  Robustness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28032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[subperiod CV] · [shuffled Z] · [ablation] · [sensitivity]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D2E5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3" name="Text 51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 xml:space="preserve">Delete this slide before presenting </a:t>
            </a:r>
            <a:r>
              <a:rPr lang="en-US" sz="950" b="1" dirty="0">
                <a:solidFill>
                  <a:srgbClr val="FFFFFF"/>
                </a:solidFill>
              </a:rPr>
              <a:t>— it's for prep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A90D9"/>
                </a:solidFill>
              </a:rPr>
              <a:t>SQUAREPOINT CAPITAL  ·  DATASET INTERVIEW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[DATASET NAME]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Predictive Modelling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606040"/>
            <a:ext cx="45720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 xml:space="preserve">Candidate: </a:t>
            </a:r>
            <a:r>
              <a:rPr lang="en-US" sz="1100" b="1" dirty="0">
                <a:solidFill>
                  <a:srgbClr val="FFFFFF"/>
                </a:solidFill>
              </a:rPr>
              <a:t>[Your Name]</a:t>
            </a:r>
            <a:r>
              <a:rPr lang="en-US" sz="1100" dirty="0">
                <a:solidFill>
                  <a:srgbClr val="94A3B8"/>
                </a:solidFill>
              </a:rPr>
              <a:t xml:space="preserve">   ·   Date: </a:t>
            </a:r>
            <a:r>
              <a:rPr lang="en-US" sz="1100" b="1" dirty="0">
                <a:solidFill>
                  <a:srgbClr val="FFFFFF"/>
                </a:solidFill>
              </a:rPr>
              <a:t>April 30,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376732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217920" y="3767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[N] rows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17920" y="411480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217920" y="41148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[N] features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446227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217920" y="44622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[task type]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046720" cy="62179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36576" cy="5120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7008" y="1252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5179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questions, target, success metric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8046720" cy="62179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36576" cy="5120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21792" y="19751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223113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quality, leakage check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15184"/>
            <a:ext cx="8046720" cy="62179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457200" y="2670048"/>
            <a:ext cx="36576" cy="5120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21792" y="2688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7008" y="2679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29443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correlations, hypothesis tests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28416"/>
            <a:ext cx="8046720" cy="62179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36576" cy="5120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21792" y="3401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07008" y="3392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3657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Ridge → LightGBM → XGBoost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041648"/>
            <a:ext cx="8046720" cy="621792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36576" cy="5120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21792" y="4114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7008" y="4105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&amp; Conclusions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07008" y="43708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Residuals, feature importance, next steps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01 · PROBLEM FRAMING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the data,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defined three questions.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21792" y="1938528"/>
            <a:ext cx="411480" cy="41148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21792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193852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have the strongest relationship with [TARGET]?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21792" y="2807208"/>
            <a:ext cx="411480" cy="41148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21792" y="2807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280720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signal linear or non-linear? (→ determines model choice)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21792" y="3675888"/>
            <a:ext cx="411480" cy="41148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21792" y="3675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88720" y="36758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data quality issues or leakage that affect modelling?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D2E5A"/>
          </a:solidFill>
          <a:ln w="1016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Primary metric: </a:t>
            </a:r>
            <a:r>
              <a:rPr lang="en-US" sz="1000" b="1" dirty="0">
                <a:solidFill>
                  <a:srgbClr val="FFFFFF"/>
                </a:solidFill>
              </a:rPr>
              <a:t>[RMSE / Spearman ρ / AUC]</a:t>
            </a:r>
            <a:r>
              <a:rPr lang="en-US" sz="1000" dirty="0">
                <a:solidFill>
                  <a:srgbClr val="94A3B8"/>
                </a:solidFill>
              </a:rPr>
              <a:t xml:space="preserve">   ·   Task type: </a:t>
            </a:r>
            <a:r>
              <a:rPr lang="en-US" sz="1000" b="1" dirty="0">
                <a:solidFill>
                  <a:srgbClr val="FFFFFF"/>
                </a:solidFill>
              </a:rPr>
              <a:t>[Regression / Classification]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02 · DATA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before modelling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383280" y="1572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309360" y="1572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0936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57200" y="2715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[min–max]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" y="3218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Range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606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383280" y="2715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383280" y="3218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606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309360" y="2715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09360" y="3218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85800" y="39593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⚠  Leakage check: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31720" y="395935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[e.g. Columns diabetes_onset, risk_score excluded — Spearman ρ &gt; 0.85 with target, derived from outcome]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02 · DATA CLEANING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Distributions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5097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looked like, what was cleaned, and why — before any modelling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[Boxplot grid — all numeric features]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df[num_cols].plot(kind='box',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 xml:space="preserve">  subplots=True, layout=(2,4))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154680" y="1261872"/>
            <a:ext cx="2651760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3154680" y="1261872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[Histogram grid — distributions]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sns.histplot grid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skew annotated on each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0" y="1261872"/>
            <a:ext cx="2834640" cy="150876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943600" y="1261872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[Missingness bar chart]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sns.barplot(missing_pct)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with 5% / 30% threshold lines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62072"/>
          <a:ext cx="8412480" cy="190195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[N]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drop_duplicates()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records add no information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&lt; 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[col_1, col_2]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imputation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rate — safe to impute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5–30%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[col_3]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Impute + missingness flag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preserves signal from missingness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(3×IQR)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[col_4]: [N]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Flagged, not removed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values may be clinically real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skew &gt;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[col_5, col_6]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log1p for Ridge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are skew-invariant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variance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[alive]: all =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predictive 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0D2E5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3×IQR fence used (not 1.5×) — extreme values in clinical data may be physiologically real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02 · DATA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Check — First Thing I Did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feature with Spearman ρ &gt; 0.80 with target was inspected before modelling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2D1B00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</a:rPr>
              <a:t>⚠  Leakage = using future/derived information the model wouldn't have at prediction time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979839"/>
              </p:ext>
            </p:extLst>
          </p:nvPr>
        </p:nvGraphicFramePr>
        <p:xfrm>
          <a:off x="457200" y="2029968"/>
          <a:ext cx="8229600" cy="149047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leakage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[leaked_col_1]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[0.92]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Binary flag for outcome — encodes target]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[leaked_col_2]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[0.87]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Future label — unavailable at prediction time]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[leaked_col_3]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[0.84]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[e.g. Derived from target variable]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[clean_col]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[0.71]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clinical predictor — available pre-diagnosis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✓</a:t>
                      </a:r>
                      <a:endParaRPr lang="en-US" sz="9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685032"/>
            <a:ext cx="8229600" cy="777240"/>
          </a:xfrm>
          <a:prstGeom prst="rect">
            <a:avLst/>
          </a:prstGeom>
          <a:solidFill>
            <a:srgbClr val="064E3B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640080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</a:rPr>
              <a:t>Result after exclusion: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40050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</a:rPr>
              <a:t>[N] features removed · Clean feature set: [N] columns · Honest R² drops from [X] → [X]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D2E5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 xml:space="preserve">Leakage columns always excluded from all downstream modelling 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03 · EDA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target before modelling determines task type and metric choice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754880" cy="256032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[Insert histogram + KDE of target here]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paste from notebook output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325880"/>
            <a:ext cx="32918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394960" y="1371600"/>
            <a:ext cx="36576" cy="3566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559552" y="13807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Task type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559552" y="15453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[Regression / Ordinal classif.]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837944"/>
            <a:ext cx="32918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394960" y="1883664"/>
            <a:ext cx="36576" cy="35661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559552" y="1892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Mean / Median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59552" y="2057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[X.XX] / [X.XX]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2350008"/>
            <a:ext cx="32918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394960" y="2395728"/>
            <a:ext cx="36576" cy="356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559552" y="24048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Skewness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559552" y="25694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[X.XX]  → [symmetric/skewed]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94960" y="2862072"/>
            <a:ext cx="32918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5394960" y="2907792"/>
            <a:ext cx="36576" cy="3566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559552" y="2916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Kurtosis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59552" y="3081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[X.XX]  → [fat tails / normal]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94960" y="3374136"/>
            <a:ext cx="329184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394960" y="3419856"/>
            <a:ext cx="36576" cy="3566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559552" y="3429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Unique vals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59552" y="35935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[N]  → [continuous / ordinal]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016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40080" y="40416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Modelling implication: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4251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[e.g. 'Left-skewed target (skew=−0.8) with 4 unique values → treat as ordinal regression. MAE preferred over RMSE as it's less sensitive to ceiling effect.']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03 · EDA FINDINGS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— Feature Relationships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(lower triangle) — robust to outliers and non-normality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029200" cy="3154680"/>
          </a:xfrm>
          <a:prstGeom prst="rect">
            <a:avLst/>
          </a:prstGeom>
          <a:solidFill>
            <a:srgbClr val="0F2040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5029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[Paste Spearman heatmap from notebook here]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 mask=triu, annot=True,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cmap='RdBu_r', center=0)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0" y="1325880"/>
            <a:ext cx="3017520" cy="9601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669280" y="1399032"/>
            <a:ext cx="36576" cy="8138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833872" y="14173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33872" y="16459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Feature_A × Feature_B: ρ=0.85]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Ridge preferred (L2 handles this)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Don't panic — expected for rating data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0" y="2395728"/>
            <a:ext cx="3017520" cy="9601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669280" y="2468880"/>
            <a:ext cx="36576" cy="81381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833872" y="24871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pairs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33872" y="2715768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glucose × HbA1c: ρ=0.81]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BMI × HOMA_IR: ρ=0.74]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measure same underlying factor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0" y="3465576"/>
            <a:ext cx="3017520" cy="9601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669280" y="3538728"/>
            <a:ext cx="36576" cy="8138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833872" y="355701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flag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33872" y="378561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glucose: Spearman=0.83, Pearson=0.67]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= 0.16 → non-linear signal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LightGBM preferred over Ridge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0D2E5A"/>
          </a:solidFill>
          <a:ln w="1016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 xml:space="preserve">Divergence = |Spearman| − |Pearson| &gt; 0.05  →  non-linear signal  →  trees preferred 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03 · EDA — TARGET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 Deep Dive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picture of what we're predicting before choosing model and metric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566160" cy="2331720"/>
          </a:xfrm>
          <a:prstGeom prst="rect">
            <a:avLst/>
          </a:prstGeom>
          <a:solidFill>
            <a:srgbClr val="0F2040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[Paste target histogram + KDE]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sns.histplot(df[TARGET], bins=50,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kde=True, color='steelblue')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069080" y="1298448"/>
            <a:ext cx="2148840" cy="1097280"/>
          </a:xfrm>
          <a:prstGeom prst="rect">
            <a:avLst/>
          </a:prstGeom>
          <a:solidFill>
            <a:srgbClr val="0F2040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069080" y="1298448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[Boxplot]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sns.boxplot(y=df[TARGET])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69080" y="2487168"/>
            <a:ext cx="2148840" cy="1143000"/>
          </a:xfrm>
          <a:prstGeom prst="rect">
            <a:avLst/>
          </a:prstGeom>
          <a:solidFill>
            <a:srgbClr val="0F2040"/>
          </a:solidFill>
          <a:ln w="1016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069080" y="248716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[Countplot — if ordinal]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sns.countplot(x=df[TARGET])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355080" y="1298448"/>
            <a:ext cx="196596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6355080" y="1371600"/>
            <a:ext cx="36576" cy="7223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519672" y="13898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Mean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19672" y="16184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903721" y="1298448"/>
            <a:ext cx="182880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903721" y="1371600"/>
            <a:ext cx="1828800" cy="7223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559554" y="13898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Median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59554" y="16184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5080" y="2240280"/>
            <a:ext cx="196596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355080" y="2313432"/>
            <a:ext cx="36576" cy="7223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519672" y="23317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Std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19672" y="25603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03721" y="2240280"/>
            <a:ext cx="182880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6903721" y="2313432"/>
            <a:ext cx="1828800" cy="7223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559554" y="2331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Skew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59554" y="25603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 →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[right/left/sym]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5080" y="3182112"/>
            <a:ext cx="196596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6355080" y="3255264"/>
            <a:ext cx="36576" cy="7223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519672" y="32735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Kurt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19672" y="350215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[X.XX] →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[fat/normal]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03721" y="3182112"/>
            <a:ext cx="182880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903721" y="3255264"/>
            <a:ext cx="1828800" cy="7223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559554" y="3273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Unique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59554" y="350215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[N] vals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[cont/ordinal]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65760" y="3712464"/>
            <a:ext cx="8412480" cy="841248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365760" y="3785616"/>
            <a:ext cx="36576" cy="69494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566928" y="3785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Task type decision: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6928" y="4041648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[e.g. 'stage ∈ {0,1,2,3} — 4 unique integer values → ordinal. Treating as regression (RMSE + Spearman ρ) as strong baseline. Could also try LGBMClassifier multiclass.']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0D2E5A"/>
          </a:solidFill>
          <a:ln w="1016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Skew &gt; 1 → log-transform for linear models  ·  Unique values ≤ 10 → check if ordinal classification is better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03 · EDA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— Spearman ρ with Target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173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417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989320" y="1490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6153912" y="1490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Flag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53912" y="1719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[feat_1]: Spearman=0.83, Pearson=0.67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Divergence=0.17 → NON-LINEAR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LightGBM preferred over Ridge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989320" y="2560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989320" y="2633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6153912" y="2633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53912" y="2862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[feat_1] × [feat_2]: ρ = 0.85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correlated → Ridge handles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L2 regularisation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989320" y="3703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2"/>
          <p:cNvSpPr/>
          <p:nvPr/>
        </p:nvSpPr>
        <p:spPr>
          <a:xfrm>
            <a:off x="5989320" y="3776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6153912" y="3776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53912" y="4005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 with your main finding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dataset — one sentence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finding is enough]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03 · EDA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statistical narrative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E8"/>
                </a:solidFill>
              </a:rPr>
              <a:t>Observation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[e.g. Restaurants with high Food rating appear 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have higher Service rating]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E8"/>
                </a:solidFill>
              </a:rPr>
              <a:t>H₀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[e.g. Service distribution is identical across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price tiers]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E8"/>
                </a:solidFill>
              </a:rPr>
              <a:t>H₁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33558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[e.g. Service is higher in the high-price tier]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941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3E8"/>
                </a:solidFill>
              </a:rPr>
              <a:t>Normality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1970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Shapiro-Wilk p = [X] → [normal / NOT normal]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→ using [t-test Welch / Mann-Whitney U]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1417320"/>
            <a:ext cx="37490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937760" y="1490472"/>
            <a:ext cx="36576" cy="213969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12064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Result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8745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Test: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[Mann-Whitney U / t-test Welch]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2402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Statistic: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[X.XX]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p-value: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2606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[0.003]  ***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29718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Effect size: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971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Cohen's d = [0.41] → medium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EFF6FF"/>
          </a:solidFill>
          <a:ln w="1016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85800" y="4023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</a:rPr>
              <a:t>Conclusion: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5740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[e.g. We reject H₀ (p=0.003). High-price restaurants have significantly higher Service ratings. Effect is medium (d=0.41) — real but not dominant signal. Multiple testing corrected via FDR.]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04 · MODELLING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one clear winner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1965960" cy="30175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097280" y="1810512"/>
            <a:ext cx="502920" cy="50292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09728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4231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788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DummyRegressor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 predictor)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600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75488" y="3566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Why: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" y="374904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floor —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must beat this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645920"/>
            <a:ext cx="1965960" cy="30175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3200400" y="1810512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2004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78608" y="24231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2788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3429000"/>
            <a:ext cx="1600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2578608" y="3566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Why: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78608" y="374904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multicollinearity.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interpretable.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1645920"/>
            <a:ext cx="1965960" cy="30175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303520" y="1810512"/>
            <a:ext cx="502920" cy="50292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30352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81728" y="24231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81728" y="2788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429000"/>
            <a:ext cx="1600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681728" y="3566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Why: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81728" y="374904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non-linearity.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Leaf-wise growth.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75120" y="1645920"/>
            <a:ext cx="1965960" cy="301752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7406640" y="181051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740664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84848" y="242316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84848" y="27889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GBDT — level-wise.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conservative.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3429000"/>
            <a:ext cx="16002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6784848" y="3566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</a:rPr>
              <a:t>Why: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84848" y="374904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 against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results.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04 · MODELLING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on train · held-out test set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144000" cy="1737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 ± 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 ± 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 ± 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457200" y="3502152"/>
            <a:ext cx="36576" cy="10881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6"/>
          <p:cNvSpPr/>
          <p:nvPr/>
        </p:nvSpPr>
        <p:spPr>
          <a:xfrm>
            <a:off x="658368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Winner: [Model Name]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38221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[One clear reason why: e.g. 'Ridge won because Food/Atmosphere/Service are highly correlated (ρ=0.82) — linear relationship + multicollinearity = ideal Ridge conditions. LightGBM found no additional non-linear signal (divergence &lt; 0.05 across all features).']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04 · MODELLING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(LightGBM — Gain)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loss reduction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41732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417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5989320" y="1490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153912" y="1490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Gain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53912" y="1719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= total loss reduction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feature. More meaningful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split count.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2560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989320" y="2633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6153912" y="2633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check 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53912" y="2862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60% unexpectedly.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aligns with domain.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3703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5989320" y="3776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153912" y="3776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sense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53912" y="4005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[feat_1] dominates at [X]% —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[domain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or EDA finding].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05 · DIAGNOSTICS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model behaviour beyond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Residuals vs Predicted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2377440" cy="12344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[Insert plot here]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32004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Look for: fan shape → heteroskedasticity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Curve → non-linearity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Target: random scatter around zero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" y="4133088"/>
            <a:ext cx="2432304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Result: [no pattern / fan shape detected]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31012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Residual Distribution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856232"/>
            <a:ext cx="2377440" cy="12344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337560" y="185623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[Insert histogram here]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32004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Look for: skew, heavy tails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Mean should be ≈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Shapiro-Wilk test for normality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10128" y="4133088"/>
            <a:ext cx="2432304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38328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Result: mean=[X], SW p=[X] → [normal/non-normal]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14476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Normal Q-Q Plot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856232"/>
            <a:ext cx="2377440" cy="12344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172200" y="185623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[Insert QQ plot here]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44768" y="32004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Points on diagonal → normal residuals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Heavy tails → fat tail distribution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S-curve → skewness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44768" y="4133088"/>
            <a:ext cx="2432304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21792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Result: R=[X] → [good/tail deviation]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05 · CONCLUSIONS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I Found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4864" cy="8686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58368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</a:rPr>
              <a:t>Finding 1: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20848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HbA1c and fasting glucose account for 58% of predictive signal — consistent with clinical evidence. These two features alone give strong baseline performance.]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58368" y="2816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Finding 2: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09067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Ridge outperforms LightGBM (RMSE 0.078 vs 0.256) — signal is predominantly linear. Multicollinearity between rating dimensions is the dominant structure.]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58368" y="3822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Finding 3: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409651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Model struggles on extreme cases (stage 3, n=47). Sparse data problem — more data or class reweighting would help, not a more complex model.]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0D2E5A"/>
          </a:solidFill>
          <a:ln w="1016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Best model: </a:t>
            </a:r>
            <a:r>
              <a:rPr lang="en-US" sz="1000" b="1" dirty="0">
                <a:solidFill>
                  <a:srgbClr val="FFFFFF"/>
                </a:solidFill>
              </a:rPr>
              <a:t>[Model]</a:t>
            </a:r>
            <a:r>
              <a:rPr lang="en-US" sz="1000" dirty="0">
                <a:solidFill>
                  <a:srgbClr val="94A3B8"/>
                </a:solidFill>
              </a:rPr>
              <a:t xml:space="preserve">   Test RMSE = </a:t>
            </a:r>
            <a:r>
              <a:rPr lang="en-US" sz="1000" b="1" dirty="0">
                <a:solidFill>
                  <a:srgbClr val="FFFFFF"/>
                </a:solidFill>
              </a:rPr>
              <a:t>[X.XX]</a:t>
            </a:r>
            <a:r>
              <a:rPr lang="en-US" sz="1000" dirty="0">
                <a:solidFill>
                  <a:srgbClr val="94A3B8"/>
                </a:solidFill>
              </a:rPr>
              <a:t xml:space="preserve">   Spearman ρ = </a:t>
            </a:r>
            <a:r>
              <a:rPr lang="en-US" sz="1000" b="1" dirty="0">
                <a:solidFill>
                  <a:srgbClr val="FFFFFF"/>
                </a:solidFill>
              </a:rPr>
              <a:t>[X.XX]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05 · ROBUSTNESS CHECKS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Checks Beyond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not just IF the model works — but WHY and HOW reliably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069080" cy="15544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6576" cy="1371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30352" y="1527048"/>
            <a:ext cx="347472" cy="34747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30352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87552" y="1545336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Subperiod Stability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8928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test into 4 sequential chunks.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metric is stable across all.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0352" y="22585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✓ CV(ρ) &lt; 0.15 → stable signal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24414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Declining Q1→Q4 → regime change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0352" y="26700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3E8"/>
                </a:solidFill>
              </a:rPr>
              <a:t>[e.g. CV=0.08 ✓ stable across all quarters]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4069080" cy="15544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36576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4828032" y="152704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828032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5232" y="1545336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Target 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18928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Permute y 50×, train same model.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null distribution of metric.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28032" y="22585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✓ Z-score &gt; 3, p &lt; 0.01 → real signal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8032" y="24414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Real ≈ shuffled → no signal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28032" y="26700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</a:rPr>
              <a:t>[e.g. Z=12.4, p&lt;0.001 *** real signal]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4069080" cy="15544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36576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530352" y="317296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3035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87552" y="3191256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Ablation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" y="35387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one feature at a time,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retrain, measure metric drop.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0352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✓ No feature &gt; 50% drop → robust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0352" y="40873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One feature dominates → risky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0352" y="43159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[e.g. No single point of failure ✓]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3063240"/>
            <a:ext cx="4069080" cy="155448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4663440" y="3154680"/>
            <a:ext cx="36576" cy="1371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4828032" y="317296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482803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85232" y="3191256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Sensitivity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35387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key params in reasonable range.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metric stays stable.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28032" y="390448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</a:rPr>
              <a:t>✓ CV &lt; 0.10 → choice is principled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28032" y="40873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87171"/>
                </a:solidFill>
              </a:rPr>
              <a:t>✗ Spiky results → lucky pick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28032" y="431596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78BFA"/>
                </a:solidFill>
              </a:rPr>
              <a:t>[e.g. num_leaves [32-128]: ρ stable at 0.79-0.82]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0D2E5A"/>
          </a:solidFill>
          <a:ln w="1016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Key principle: A bad result you found yourself = a plus.  A bad result the interviewer finds = a minus.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Had More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directions for further improvement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77640" cy="150876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40080" y="1673352"/>
            <a:ext cx="411480" cy="41148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70432" y="1691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630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RidgeCV for automatic alpha · Optuna for LightGBM HPO with CV objective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3977640" cy="150876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983480" y="1673352"/>
            <a:ext cx="411480" cy="41148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983480" y="1673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13832" y="1691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Modelling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83480" y="2148840"/>
            <a:ext cx="3630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classification (LGBMClassifier multiclass) if target is truly ordinal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3977640" cy="150876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411480" cy="41148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4008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70432" y="3383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630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terms · domain-specific transforms · target encoding for categoricals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3200400"/>
            <a:ext cx="3977640" cy="150876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4983480" y="3364992"/>
            <a:ext cx="411480" cy="41148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98348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13832" y="3383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83480" y="3840480"/>
            <a:ext cx="3630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domain experts about high-error cases · external data to explain residuals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04 · MODELLING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— Direction &amp; Magnitude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Beeswarm: how each feature pushes the prediction up or down</a:t>
            </a:r>
            <a:endParaRPr lang="en-US" sz="1300" dirty="0"/>
          </a:p>
        </p:txBody>
      </p:sp>
      <p:sp>
        <p:nvSpPr>
          <p:cNvPr id="6" name="ChartPlaceholder"/>
          <p:cNvSpPr/>
          <p:nvPr/>
        </p:nvSpPr>
        <p:spPr>
          <a:xfrm>
            <a:off x="457200" y="1620000"/>
            <a:ext cx="5303520" cy="318060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dash"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</a:rPr>
              <a:t>[Paste SHAP beeswarm plot from notebook here]</a:t>
            </a:r>
            <a:endParaRPr lang="en-US" sz="1100" dirty="0"/>
          </a:p>
          <a:p>
            <a:pPr marL="0" indent="0" algn="ctr">
              <a:buNone/>
            </a:pP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</a:rPr>
              <a:t>shap.summary_plot(shap_values, X_test_shap)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89320" y="1417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5989320" y="1490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6153912" y="1490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53912" y="1719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observation.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= feature value (red high, blue low).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= SHAP impact on prediction.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2560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989320" y="2633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6153912" y="2633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53912" y="2862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right + blue left = positive effect.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colors = negative effect.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width = strength of effect.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3703320"/>
            <a:ext cx="2697480" cy="1005840"/>
          </a:xfrm>
          <a:prstGeom prst="rect">
            <a:avLst/>
          </a:prstGeom>
          <a:solidFill>
            <a:srgbClr val="0F2040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5989320" y="3776472"/>
            <a:ext cx="36576" cy="8595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153912" y="37764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53912" y="4005072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[feat_1]: high values push prediction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[up/down] by ~[X] units. Aligns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[domain hypothesis].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04 · MODELLING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 on train · held-out test set · class_weight=balanced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9144000" cy="17373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PR-AUC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(majority)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 ± 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[+/-X.XX]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 ± 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 ± 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[+X.XX]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429000"/>
            <a:ext cx="82296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457200" y="3502152"/>
            <a:ext cx="36576" cy="10881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6"/>
          <p:cNvSpPr/>
          <p:nvPr/>
        </p:nvSpPr>
        <p:spPr>
          <a:xfrm>
            <a:off x="658368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Winner: [Model Name]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382219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[One clear reason why: e.g. 'LightGBM won (PR-AUC 0.74 vs LogReg 0.61) — non-linear interactions matter. ROC-AUC differences smaller (0.91 vs 0.88) because PR-AUC penalizes minority-class errors more heavily on 1:8 imbalance. Decision threshold tuned to 0.32 to maximize F1.']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234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4A90D9"/>
                </a:solidFill>
              </a:rPr>
              <a:t>05 · DIAGNOSTICS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Curves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fails — and what we'd trade off at decision time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7548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Confusion Matrix (raw)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2377440" cy="12344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[Insert raw CM heatmap]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32004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TP / TN — correct predictions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FP — false alarms (Type I)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FN — missed positives (Type II)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" y="4133088"/>
            <a:ext cx="2432304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Result: TP=[X] TN=[X] FP=[X] FN=[X]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31012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Normalized by row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856232"/>
            <a:ext cx="2377440" cy="12344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3337560" y="185623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[Insert normalized CM heatmap]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32004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Diagonal = recall per class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Off-diagonal = error rates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Compare classes side by side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10128" y="4133088"/>
            <a:ext cx="2432304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338328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Result: Recall=[X] Specificity=[X]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417320"/>
            <a:ext cx="26517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144768" y="15087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</a:rPr>
              <a:t>ROC + PR Curves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856232"/>
            <a:ext cx="2377440" cy="12344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172200" y="185623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[Insert ROC + PR curves]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44768" y="3200400"/>
            <a:ext cx="2432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ROC: TPR vs FPR, threshold-free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PR: honest for class imbalance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</a:rPr>
              <a:t>Diagonal/baseline = random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44768" y="4133088"/>
            <a:ext cx="2432304" cy="548640"/>
          </a:xfrm>
          <a:prstGeom prst="rect">
            <a:avLst/>
          </a:prstGeom>
          <a:solidFill>
            <a:srgbClr val="EFF6FF"/>
          </a:solidFill>
          <a:ln w="63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21792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1628"/>
                </a:solidFill>
              </a:rPr>
              <a:t>ROC-AUC=[X] · PR-AUC=[X]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3685</Words>
  <Application>Microsoft Macintosh PowerPoint</Application>
  <PresentationFormat>Экран (16:9)</PresentationFormat>
  <Paragraphs>553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Interview — SquarePoint Capital</dc:title>
  <dc:subject>PptxGenJS Presentation</dc:subject>
  <dc:creator>PptxGenJS</dc:creator>
  <cp:lastModifiedBy>Alexander Nefedov</cp:lastModifiedBy>
  <cp:revision>2</cp:revision>
  <dcterms:created xsi:type="dcterms:W3CDTF">2026-04-20T07:40:15Z</dcterms:created>
  <dcterms:modified xsi:type="dcterms:W3CDTF">2026-04-29T12:46:47Z</dcterms:modified>
</cp:coreProperties>
</file>